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1" r:id="rId4"/>
  </p:sldMasterIdLst>
  <p:notesMasterIdLst>
    <p:notesMasterId r:id="rId11"/>
  </p:notesMasterIdLst>
  <p:handoutMasterIdLst>
    <p:handoutMasterId r:id="rId12"/>
  </p:handoutMasterIdLst>
  <p:sldIdLst>
    <p:sldId id="539" r:id="rId5"/>
    <p:sldId id="564" r:id="rId6"/>
    <p:sldId id="257" r:id="rId7"/>
    <p:sldId id="562" r:id="rId8"/>
    <p:sldId id="563" r:id="rId9"/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7340AC-06E5-4607-B2C0-D0C0CE425CD9}" v="3" dt="2026-04-16T09:34:37.908"/>
  </p1510:revLst>
</p1510:revInfo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760" autoAdjust="0"/>
  </p:normalViewPr>
  <p:slideViewPr>
    <p:cSldViewPr snapToGrid="0">
      <p:cViewPr varScale="1">
        <p:scale>
          <a:sx n="154" d="100"/>
          <a:sy n="154" d="100"/>
        </p:scale>
        <p:origin x="2712" y="348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340-CA88-40FE-8D9F-FB95A67E2AC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4C7120-FABF-42CA-85D1-839480B5B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BC4F2-6A87-450D-AD53-D2188421BC53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3B2649-7BD8-4005-A99E-30D13769A8B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401A8-3220-413E-B964-4A8659985FD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1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3B2649-7BD8-4005-A99E-30D13769A8B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495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2A5B690-D47A-166B-0BEE-8CDC1BB59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99B7A4E-1E73-5148-8EF4-5232DBEAFE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3/1/20XX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13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C320B4-1D6E-D480-A44F-13517DFF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anchor="ctr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06641" y="4570807"/>
            <a:ext cx="4114800" cy="152400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algn="l"/>
            <a:r>
              <a:rPr lang="en-US" dirty="0"/>
              <a:t>Click to add subtitle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027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03AAFC-F6FA-4A24-BE1D-34AE6AD64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Title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pPr algn="l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 17">
            <a:extLst>
              <a:ext uri="{FF2B5EF4-FFF2-40B4-BE49-F238E27FC236}">
                <a16:creationId xmlns:a16="http://schemas.microsoft.com/office/drawing/2014/main" id="{81E38157-454C-44D5-8D2B-A220A53D7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algn="l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06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24A1CC7-4419-4A64-9DC9-AE157407A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2F8EC6-DD66-475C-B129-22B374F49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86FA963F-8B94-469B-B1A5-890D9134F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C795068-4EB8-AD75-B4FA-E0676D8235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3/1/20XX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907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47E0814-6B26-FB38-93C1-BA5A000B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3/1/20XX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510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en-US" dirty="0"/>
              <a:t>3/1/20XX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9054356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0AF812-9F51-0D2C-2EA5-A8D6DA662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anchor="ctr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000" y="4570807"/>
            <a:ext cx="4123899" cy="152400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algn="l"/>
            <a:r>
              <a:rPr lang="en-US" dirty="0"/>
              <a:t>Click to add subtitle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3/1/20XX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4" r:id="rId2"/>
    <p:sldLayoutId id="2147483697" r:id="rId3"/>
    <p:sldLayoutId id="2147483695" r:id="rId4"/>
    <p:sldLayoutId id="2147483698" r:id="rId5"/>
    <p:sldLayoutId id="2147483673" r:id="rId6"/>
    <p:sldLayoutId id="2147483699" r:id="rId7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C60B4E40-ED59-4DFA-97D2-04570E280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anchor="ctr">
            <a:normAutofit/>
          </a:bodyPr>
          <a:lstStyle/>
          <a:p>
            <a:r>
              <a:rPr lang="en-US" dirty="0"/>
              <a:t>Software engineering fundamentals</a:t>
            </a:r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35E6FB68-BA70-4F6F-9874-1F349422D8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0807"/>
            <a:ext cx="4123899" cy="1524000"/>
          </a:xfrm>
        </p:spPr>
        <p:txBody>
          <a:bodyPr>
            <a:normAutofit/>
          </a:bodyPr>
          <a:lstStyle/>
          <a:p>
            <a:r>
              <a:rPr lang="en-US" dirty="0"/>
              <a:t>Harry Sanderson</a:t>
            </a:r>
          </a:p>
        </p:txBody>
      </p:sp>
      <p:pic>
        <p:nvPicPr>
          <p:cNvPr id="10" name="Picture Placeholder 9" descr="Image of a yellow smoothie with some fruit in the background.&#10;">
            <a:extLst>
              <a:ext uri="{FF2B5EF4-FFF2-40B4-BE49-F238E27FC236}">
                <a16:creationId xmlns:a16="http://schemas.microsoft.com/office/drawing/2014/main" id="{EAC24423-E635-494B-9CD9-DF28FD91BE7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41"/>
          <a:stretch/>
        </p:blipFill>
        <p:spPr>
          <a:xfrm>
            <a:off x="5330952" y="754711"/>
            <a:ext cx="6099048" cy="5340096"/>
          </a:xfrm>
        </p:spPr>
      </p:pic>
      <p:pic>
        <p:nvPicPr>
          <p:cNvPr id="1026" name="Picture 2" descr="Software development concepts and programming for various devices ...">
            <a:extLst>
              <a:ext uri="{FF2B5EF4-FFF2-40B4-BE49-F238E27FC236}">
                <a16:creationId xmlns:a16="http://schemas.microsoft.com/office/drawing/2014/main" id="{6E5F7F3D-8A8E-5154-C086-28F6B90505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58"/>
          <a:stretch>
            <a:fillRect/>
          </a:stretch>
        </p:blipFill>
        <p:spPr bwMode="auto">
          <a:xfrm>
            <a:off x="5330952" y="763194"/>
            <a:ext cx="6099048" cy="5340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1401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77244-CD06-AC44-3BD9-C4863490D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1" y="841248"/>
            <a:ext cx="10531089" cy="3474720"/>
          </a:xfrm>
        </p:spPr>
        <p:txBody>
          <a:bodyPr>
            <a:normAutofit/>
          </a:bodyPr>
          <a:lstStyle/>
          <a:p>
            <a:r>
              <a:rPr lang="en-US" sz="3200" dirty="0"/>
              <a:t>Follow along:</a:t>
            </a:r>
            <a:br>
              <a:rPr lang="en-US" sz="3200" dirty="0"/>
            </a:br>
            <a:br>
              <a:rPr lang="en-US" sz="3200" dirty="0"/>
            </a:br>
            <a:r>
              <a:rPr lang="en-US" sz="3200" dirty="0"/>
              <a:t>https://github.com/GenesisCoast/Whey-Code-Man</a:t>
            </a:r>
          </a:p>
        </p:txBody>
      </p:sp>
    </p:spTree>
    <p:extLst>
      <p:ext uri="{BB962C8B-B14F-4D97-AF65-F5344CB8AC3E}">
        <p14:creationId xmlns:p14="http://schemas.microsoft.com/office/powerpoint/2010/main" val="3993558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CF172-3947-42CE-B33F-43FB799FD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/>
          <a:lstStyle/>
          <a:p>
            <a:r>
              <a:rPr lang="en-US" dirty="0"/>
              <a:t>Session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4772-A1EE-4EA8-8C5D-46383706A55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By the end of this session, you will: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Use variables, conditionals, and loops in PowerShell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Load and parse CSV ticket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 simple analysis script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how script pre-processing can reduce AI token usage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502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Set of 10 Programming Language Logo Vector Icons: CSS, HTML, Javascript ...">
            <a:extLst>
              <a:ext uri="{FF2B5EF4-FFF2-40B4-BE49-F238E27FC236}">
                <a16:creationId xmlns:a16="http://schemas.microsoft.com/office/drawing/2014/main" id="{9B63FE1D-4469-5382-B255-ADE31B4A1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172" y="1172424"/>
            <a:ext cx="4514850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80DE0B49-79AF-275E-A107-6443EA3DA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3249" y="159884"/>
            <a:ext cx="4114800" cy="4572000"/>
          </a:xfrm>
        </p:spPr>
        <p:txBody>
          <a:bodyPr/>
          <a:lstStyle/>
          <a:p>
            <a:r>
              <a:rPr lang="en-US" dirty="0"/>
              <a:t>Languages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FA82F0D-BD42-EA39-AA73-F8F29099C5F4}"/>
              </a:ext>
            </a:extLst>
          </p:cNvPr>
          <p:cNvGraphicFramePr>
            <a:graphicFrameLocks noGrp="1"/>
          </p:cNvGraphicFramePr>
          <p:nvPr/>
        </p:nvGraphicFramePr>
        <p:xfrm>
          <a:off x="1248437" y="3279146"/>
          <a:ext cx="10279612" cy="3132125"/>
        </p:xfrm>
        <a:graphic>
          <a:graphicData uri="http://schemas.openxmlformats.org/drawingml/2006/table">
            <a:tbl>
              <a:tblPr>
                <a:tableStyleId>{22838BEF-8BB2-4498-84A7-C5851F593DF1}</a:tableStyleId>
              </a:tblPr>
              <a:tblGrid>
                <a:gridCol w="2569903">
                  <a:extLst>
                    <a:ext uri="{9D8B030D-6E8A-4147-A177-3AD203B41FA5}">
                      <a16:colId xmlns:a16="http://schemas.microsoft.com/office/drawing/2014/main" val="1170943750"/>
                    </a:ext>
                  </a:extLst>
                </a:gridCol>
                <a:gridCol w="2569903">
                  <a:extLst>
                    <a:ext uri="{9D8B030D-6E8A-4147-A177-3AD203B41FA5}">
                      <a16:colId xmlns:a16="http://schemas.microsoft.com/office/drawing/2014/main" val="2585794386"/>
                    </a:ext>
                  </a:extLst>
                </a:gridCol>
                <a:gridCol w="2569903">
                  <a:extLst>
                    <a:ext uri="{9D8B030D-6E8A-4147-A177-3AD203B41FA5}">
                      <a16:colId xmlns:a16="http://schemas.microsoft.com/office/drawing/2014/main" val="3082700237"/>
                    </a:ext>
                  </a:extLst>
                </a:gridCol>
                <a:gridCol w="2569903">
                  <a:extLst>
                    <a:ext uri="{9D8B030D-6E8A-4147-A177-3AD203B41FA5}">
                      <a16:colId xmlns:a16="http://schemas.microsoft.com/office/drawing/2014/main" val="4007824920"/>
                    </a:ext>
                  </a:extLst>
                </a:gridCol>
              </a:tblGrid>
              <a:tr h="1359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Language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Type (how it runs)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Pros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Cons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4229444329"/>
                  </a:ext>
                </a:extLst>
              </a:tr>
              <a:tr h="237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C#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Compiled → </a:t>
                      </a:r>
                      <a:r>
                        <a:rPr lang="en-US" sz="1200" b="1">
                          <a:effectLst/>
                        </a:rPr>
                        <a:t>JIT / AOT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Fast, great tooling, strong for APIs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More boilerplate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958994472"/>
                  </a:ext>
                </a:extLst>
              </a:tr>
              <a:tr h="339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Java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Compiled → </a:t>
                      </a:r>
                      <a:r>
                        <a:rPr lang="en-US" sz="1200" b="1">
                          <a:effectLst/>
                        </a:rPr>
                        <a:t>JIT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Portable, huge ecosystem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Verbose, JVM tuning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4118677239"/>
                  </a:ext>
                </a:extLst>
              </a:tr>
              <a:tr h="441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Python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Interpreted</a:t>
                      </a:r>
                      <a:r>
                        <a:rPr lang="en-US" sz="1200">
                          <a:effectLst/>
                        </a:rPr>
                        <a:t> (bytecode VM)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Very easy, rapid dev, big libs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Slower for CPU-heavy work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1371435029"/>
                  </a:ext>
                </a:extLst>
              </a:tr>
              <a:tr h="5438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PHP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Interpreted</a:t>
                      </a:r>
                      <a:r>
                        <a:rPr lang="en-US" sz="1200">
                          <a:effectLst/>
                        </a:rPr>
                        <a:t> (with optional </a:t>
                      </a:r>
                      <a:r>
                        <a:rPr lang="en-US" sz="1200" b="1">
                          <a:effectLst/>
                        </a:rPr>
                        <a:t>JIT</a:t>
                      </a:r>
                      <a:r>
                        <a:rPr lang="en-US" sz="1200">
                          <a:effectLst/>
                        </a:rPr>
                        <a:t>)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Simple web dev, widely hosted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Web-centric, JIT often small wins for typical apps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1925085772"/>
                  </a:ext>
                </a:extLst>
              </a:tr>
              <a:tr h="339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PowerShell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Interpreted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Excellent Windows/Azure automation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Not for high-perf apps/loops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3404553948"/>
                  </a:ext>
                </a:extLst>
              </a:tr>
              <a:tr h="951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JavaScript</a:t>
                      </a:r>
                      <a:endParaRPr lang="en-US" sz="1200">
                        <a:effectLst/>
                      </a:endParaRP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Interpreted + JIT</a:t>
                      </a:r>
                      <a:r>
                        <a:rPr lang="en-US" sz="1200">
                          <a:effectLst/>
                        </a:rPr>
                        <a:t> (engine optimizes hot paths)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Ubiquitous (browser + Node), great for I/O + realtime</a:t>
                      </a:r>
                    </a:p>
                  </a:txBody>
                  <a:tcPr marL="33993" marR="33993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Async complexity; performance can vary due to browsers</a:t>
                      </a:r>
                    </a:p>
                  </a:txBody>
                  <a:tcPr marL="33993" marR="33993" marT="16997" marB="16997" anchor="ctr"/>
                </a:tc>
                <a:extLst>
                  <a:ext uri="{0D108BD9-81ED-4DB2-BD59-A6C34878D82A}">
                    <a16:rowId xmlns:a16="http://schemas.microsoft.com/office/drawing/2014/main" val="2448802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79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erformance And Development Speed Comparison Of Programming Languages ...">
            <a:extLst>
              <a:ext uri="{FF2B5EF4-FFF2-40B4-BE49-F238E27FC236}">
                <a16:creationId xmlns:a16="http://schemas.microsoft.com/office/drawing/2014/main" id="{D66C636B-41F6-1728-3CFE-D3837B0037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8707" y="883486"/>
            <a:ext cx="7608153" cy="5854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4BC49506-0007-AA23-1101-125D37B97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3249" y="159884"/>
            <a:ext cx="4114800" cy="4572000"/>
          </a:xfrm>
        </p:spPr>
        <p:txBody>
          <a:bodyPr/>
          <a:lstStyle/>
          <a:p>
            <a:r>
              <a:rPr lang="en-US" dirty="0"/>
              <a:t>Market share</a:t>
            </a:r>
          </a:p>
        </p:txBody>
      </p:sp>
    </p:spTree>
    <p:extLst>
      <p:ext uri="{BB962C8B-B14F-4D97-AF65-F5344CB8AC3E}">
        <p14:creationId xmlns:p14="http://schemas.microsoft.com/office/powerpoint/2010/main" val="1535784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F764D8E-8D44-4B0E-A17E-DF05833AC7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anchor="b" anchorCtr="0">
            <a:noAutofit/>
          </a:bodyPr>
          <a:lstStyle/>
          <a:p>
            <a:r>
              <a:rPr lang="en-US" dirty="0"/>
              <a:t>Service desk AI agent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E30C49B-3963-5357-7913-37FEE1C746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>
            <a:normAutofit/>
          </a:bodyPr>
          <a:lstStyle/>
          <a:p>
            <a:r>
              <a:rPr lang="en-US" dirty="0"/>
              <a:t>Thanks Dean!</a:t>
            </a:r>
          </a:p>
        </p:txBody>
      </p:sp>
      <p:pic>
        <p:nvPicPr>
          <p:cNvPr id="8" name="Picture Placeholder 7" descr="Close up of lemon slice">
            <a:extLst>
              <a:ext uri="{FF2B5EF4-FFF2-40B4-BE49-F238E27FC236}">
                <a16:creationId xmlns:a16="http://schemas.microsoft.com/office/drawing/2014/main" id="{794FCA34-8775-307F-A2B4-9661CAE5877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7" b="7"/>
          <a:stretch/>
        </p:blipFill>
        <p:spPr>
          <a:xfrm>
            <a:off x="7013448" y="756284"/>
            <a:ext cx="4434840" cy="5349240"/>
          </a:xfrm>
        </p:spPr>
      </p:pic>
    </p:spTree>
    <p:extLst>
      <p:ext uri="{BB962C8B-B14F-4D97-AF65-F5344CB8AC3E}">
        <p14:creationId xmlns:p14="http://schemas.microsoft.com/office/powerpoint/2010/main" val="714287392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4.potx" id="{2F35A8D2-2794-49E9-8A0C-100147B6AC9C}" vid="{55693A51-CC17-4AC7-B6BD-D840FAE379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Props1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{5DCAFAFA-295E-449D-A481-3E534BF32C85}TFfb841b95-6888-4989-aa81-d6d215e93b34ab395874_win32-a3299d0568ec</Template>
  <TotalTime>12</TotalTime>
  <Words>195</Words>
  <Application>Microsoft Office PowerPoint</Application>
  <PresentationFormat>Widescreen</PresentationFormat>
  <Paragraphs>43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Aharoni</vt:lpstr>
      <vt:lpstr>Aptos</vt:lpstr>
      <vt:lpstr>Arial</vt:lpstr>
      <vt:lpstr>Avenir Next LT Pro</vt:lpstr>
      <vt:lpstr>Avenir Next LT Pro Light</vt:lpstr>
      <vt:lpstr>Calibri</vt:lpstr>
      <vt:lpstr>PrismaticVTI</vt:lpstr>
      <vt:lpstr>Software engineering fundamentals</vt:lpstr>
      <vt:lpstr>Follow along:  https://github.com/GenesisCoast/Whey-Code-Man</vt:lpstr>
      <vt:lpstr>Session outcomes</vt:lpstr>
      <vt:lpstr>Languages</vt:lpstr>
      <vt:lpstr>Market share</vt:lpstr>
      <vt:lpstr>Service desk AI agent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Harry Sanderson</dc:creator>
  <cp:lastModifiedBy>Harry Sanderson</cp:lastModifiedBy>
  <cp:revision>3</cp:revision>
  <dcterms:created xsi:type="dcterms:W3CDTF">2026-04-16T09:24:17Z</dcterms:created>
  <dcterms:modified xsi:type="dcterms:W3CDTF">2026-04-16T10:54:50Z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91acd197-20b5-43df-a901-28d53622fc7e_Enabled">
    <vt:lpwstr>true</vt:lpwstr>
  </property>
  <property fmtid="{D5CDD505-2E9C-101B-9397-08002B2CF9AE}" pid="5" name="MSIP_Label_91acd197-20b5-43df-a901-28d53622fc7e_SetDate">
    <vt:lpwstr>2026-04-16T09:32:48Z</vt:lpwstr>
  </property>
  <property fmtid="{D5CDD505-2E9C-101B-9397-08002B2CF9AE}" pid="6" name="MSIP_Label_91acd197-20b5-43df-a901-28d53622fc7e_Method">
    <vt:lpwstr>Standard</vt:lpwstr>
  </property>
  <property fmtid="{D5CDD505-2E9C-101B-9397-08002B2CF9AE}" pid="7" name="MSIP_Label_91acd197-20b5-43df-a901-28d53622fc7e_Name">
    <vt:lpwstr>Internal Confidential</vt:lpwstr>
  </property>
  <property fmtid="{D5CDD505-2E9C-101B-9397-08002B2CF9AE}" pid="8" name="MSIP_Label_91acd197-20b5-43df-a901-28d53622fc7e_SiteId">
    <vt:lpwstr>276d0956-0f29-4e02-83bb-f16796b3bf6a</vt:lpwstr>
  </property>
  <property fmtid="{D5CDD505-2E9C-101B-9397-08002B2CF9AE}" pid="9" name="MSIP_Label_91acd197-20b5-43df-a901-28d53622fc7e_ActionId">
    <vt:lpwstr>2b7e2262-7327-45ee-a3b4-0f01822f44ae</vt:lpwstr>
  </property>
  <property fmtid="{D5CDD505-2E9C-101B-9397-08002B2CF9AE}" pid="10" name="MSIP_Label_91acd197-20b5-43df-a901-28d53622fc7e_ContentBits">
    <vt:lpwstr>0</vt:lpwstr>
  </property>
  <property fmtid="{D5CDD505-2E9C-101B-9397-08002B2CF9AE}" pid="11" name="MSIP_Label_91acd197-20b5-43df-a901-28d53622fc7e_Tag">
    <vt:lpwstr>10, 3, 0, 1</vt:lpwstr>
  </property>
</Properties>
</file>